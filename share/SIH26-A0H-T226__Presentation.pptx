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772" y="1571201"/>
            <a:ext cx="6639785" cy="4498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SIH26025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000" dirty="0"/>
              <a:t>Development of an AI-enabled Low Cost Real Time Mine Subsidence Monitoring, Prediction and Early Warning System for Underground Coal Mines in India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000" dirty="0"/>
              <a:t>Smart Automation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IN" sz="2000" dirty="0"/>
              <a:t>SIH26-A0H-T226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ForgeByte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19664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95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ForgeByte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2A063EEE-3051-61C3-804F-B6F56F77FA04}"/>
                  </a:ext>
                </a:extLst>
              </p:cNvPr>
              <p:cNvSpPr/>
              <p:nvPr/>
            </p:nvSpPr>
            <p:spPr>
              <a:xfrm>
                <a:off x="257278" y="2111303"/>
                <a:ext cx="3823110" cy="4080387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lvl="0" algn="just"/>
                <a:r>
                  <a:rPr lang="en-IN" sz="1400" b="1" dirty="0"/>
                  <a:t>Distributed Surface Sensor Mesh:</a:t>
                </a:r>
                <a:r>
                  <a:rPr lang="en-IN" sz="1400" dirty="0"/>
                  <a:t> Low-cost </a:t>
                </a:r>
                <a:r>
                  <a:rPr lang="en-IN" sz="1400" b="1" dirty="0"/>
                  <a:t>Slave Nodes</a:t>
                </a:r>
                <a:r>
                  <a:rPr lang="en-IN" sz="1400" dirty="0"/>
                  <a:t> deployed across mine surface grids monitor real-time ground tilt (MPU6050) and micro-seismic vibrations (SW-420), relaying data via multi-hop telemetry.</a:t>
                </a:r>
              </a:p>
              <a:p>
                <a:pPr algn="just"/>
                <a:r>
                  <a:rPr lang="en-IN" sz="1400" b="1" dirty="0"/>
                  <a:t>Edge AI on Master Node:</a:t>
                </a:r>
                <a:r>
                  <a:rPr lang="en-IN" sz="1400" dirty="0"/>
                  <a:t> A central Master Hub processes multi-hop streams using an embedded </a:t>
                </a:r>
                <a:r>
                  <a:rPr lang="en-IN" sz="1400" b="1" dirty="0"/>
                  <a:t>Edge Impulse </a:t>
                </a:r>
                <a:r>
                  <a:rPr lang="en-IN" sz="1400" b="1" dirty="0" err="1"/>
                  <a:t>TinyML</a:t>
                </a:r>
                <a:r>
                  <a:rPr lang="en-IN" sz="1400" dirty="0"/>
                  <a:t> model to classify risk levels and evaluate ground deformation velocity(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1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1400" b="0" i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IN" sz="1400" dirty="0"/>
                  <a:t>t).</a:t>
                </a:r>
              </a:p>
              <a:p>
                <a:pPr lvl="0" algn="just"/>
                <a:r>
                  <a:rPr lang="en-IN" sz="1400" b="1" dirty="0"/>
                  <a:t>Offline Local Monitoring:</a:t>
                </a:r>
                <a:r>
                  <a:rPr lang="en-IN" sz="1400" dirty="0"/>
                  <a:t> Master self-hosts a local Wi-Fi dashboard (192.168.4.1), OLED display, and 4-tier status LEDs (Normal ,  Critical) with zero internet/cloud dependency.</a:t>
                </a:r>
              </a:p>
              <a:p>
                <a:pPr algn="just"/>
                <a:endParaRPr lang="en-IN" sz="1400" dirty="0"/>
              </a:p>
            </p:txBody>
          </p:sp>
        </mc:Choice>
        <mc:Fallback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2A063EEE-3051-61C3-804F-B6F56F77FA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278" y="2111303"/>
                <a:ext cx="3823110" cy="4080387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758562D-4B28-33EC-D8B6-124D48360704}"/>
              </a:ext>
            </a:extLst>
          </p:cNvPr>
          <p:cNvSpPr/>
          <p:nvPr/>
        </p:nvSpPr>
        <p:spPr>
          <a:xfrm>
            <a:off x="4259255" y="2066019"/>
            <a:ext cx="3673490" cy="408038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en-IN" sz="1400" b="1" dirty="0"/>
              <a:t>Proactive vs. Post-Facto:</a:t>
            </a:r>
            <a:r>
              <a:rPr lang="en-IN" sz="1400" dirty="0"/>
              <a:t> Replaces slow, manual, periodic surveying with continuous 24/7 automated real-time ground movement detection.</a:t>
            </a:r>
          </a:p>
          <a:p>
            <a:pPr lvl="0" algn="just"/>
            <a:r>
              <a:rPr lang="en-IN" sz="1400" b="1" dirty="0"/>
              <a:t>Zero Infrastructure Dependency:</a:t>
            </a:r>
            <a:r>
              <a:rPr lang="en-IN" sz="1400" dirty="0"/>
              <a:t> Operates 100% autonomously in remote coalfields with no cellular network or cloud connection required.</a:t>
            </a:r>
          </a:p>
          <a:p>
            <a:pPr lvl="0" algn="just"/>
            <a:r>
              <a:rPr lang="en-IN" sz="1400" b="1" dirty="0"/>
              <a:t>Rapid Evacuation Windows:</a:t>
            </a:r>
            <a:r>
              <a:rPr lang="en-IN" sz="1400" dirty="0"/>
              <a:t> Provides instant automated early warnings to mine operators and nearby communities before catastrophic surface failure occurs.</a:t>
            </a:r>
          </a:p>
          <a:p>
            <a:pPr algn="just"/>
            <a:br>
              <a:rPr lang="en-IN" sz="1400" dirty="0"/>
            </a:br>
            <a:endParaRPr lang="en-IN" sz="14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CC6C11-3F9E-5E82-0928-FFABFEA41FC6}"/>
              </a:ext>
            </a:extLst>
          </p:cNvPr>
          <p:cNvSpPr/>
          <p:nvPr/>
        </p:nvSpPr>
        <p:spPr>
          <a:xfrm>
            <a:off x="8111613" y="2111303"/>
            <a:ext cx="3832942" cy="408038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en-IN" sz="1400" b="1" dirty="0"/>
              <a:t>Targeted Closed-Loop Local Siren:</a:t>
            </a:r>
            <a:r>
              <a:rPr lang="en-IN" sz="1400" dirty="0"/>
              <a:t> Master sends a downstream command to trigger a loud buzzer and strobe LED </a:t>
            </a:r>
            <a:r>
              <a:rPr lang="en-IN" sz="1400" b="1" dirty="0"/>
              <a:t>specifically on the endangered node (e.g., Node 13)</a:t>
            </a:r>
            <a:r>
              <a:rPr lang="en-IN" sz="1400" dirty="0"/>
              <a:t>, directly evacuating at-risk workers without mass panic.</a:t>
            </a:r>
          </a:p>
          <a:p>
            <a:pPr lvl="0" algn="just"/>
            <a:r>
              <a:rPr lang="en-IN" sz="1400" b="1" dirty="0"/>
              <a:t>Intelligent False-Alarm Filter:</a:t>
            </a:r>
            <a:r>
              <a:rPr lang="en-IN" sz="1400" dirty="0"/>
              <a:t> </a:t>
            </a:r>
            <a:r>
              <a:rPr lang="en-IN" sz="1400" dirty="0" err="1"/>
              <a:t>TinyML</a:t>
            </a:r>
            <a:r>
              <a:rPr lang="en-IN" sz="1400" dirty="0"/>
              <a:t> spectral analysis (FFT) filters out benign vibrations from heavy mining dumpers/traffic vs. true rock shearing.</a:t>
            </a:r>
          </a:p>
          <a:p>
            <a:pPr lvl="0" algn="just"/>
            <a:r>
              <a:rPr lang="en-IN" sz="1400" b="1" dirty="0"/>
              <a:t>Self-Healing &amp; Solar-</a:t>
            </a:r>
            <a:r>
              <a:rPr lang="en-IN" sz="1400" b="1" dirty="0" err="1"/>
              <a:t>ReadyMesh</a:t>
            </a:r>
            <a:r>
              <a:rPr lang="en-IN" sz="1400" b="1" dirty="0"/>
              <a:t>:</a:t>
            </a:r>
            <a:r>
              <a:rPr lang="en-IN" sz="1400" dirty="0"/>
              <a:t> Automatic heartbeat detection reroutes packets if a node is damaged by shifting terrain; deep-sleep enables long-term solar-powered operation.</a:t>
            </a:r>
          </a:p>
          <a:p>
            <a:pPr algn="just"/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047CBA-533D-C849-4FFF-5AC60525ED66}"/>
              </a:ext>
            </a:extLst>
          </p:cNvPr>
          <p:cNvSpPr txBox="1"/>
          <p:nvPr/>
        </p:nvSpPr>
        <p:spPr>
          <a:xfrm>
            <a:off x="717755" y="1406011"/>
            <a:ext cx="310863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Detailed Explanation of Proposed Solution</a:t>
            </a:r>
          </a:p>
          <a:p>
            <a:endParaRPr lang="en-IN" sz="1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1B9369-596E-93BC-66FE-B981EF6B8D3E}"/>
              </a:ext>
            </a:extLst>
          </p:cNvPr>
          <p:cNvSpPr txBox="1"/>
          <p:nvPr/>
        </p:nvSpPr>
        <p:spPr>
          <a:xfrm>
            <a:off x="4743567" y="1500176"/>
            <a:ext cx="3108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How It Addresses the Problem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7662D8-DD71-4443-26EE-CCBE68B266F5}"/>
              </a:ext>
            </a:extLst>
          </p:cNvPr>
          <p:cNvSpPr txBox="1"/>
          <p:nvPr/>
        </p:nvSpPr>
        <p:spPr>
          <a:xfrm>
            <a:off x="8605683" y="1483095"/>
            <a:ext cx="3108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Innovation &amp; Uniqueness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462E1594-A5FC-92AB-B3E4-4004697243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9605" y="262078"/>
            <a:ext cx="14695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ForgeByte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08063-6F85-977F-D87D-40D35A6827AB}"/>
              </a:ext>
            </a:extLst>
          </p:cNvPr>
          <p:cNvSpPr txBox="1"/>
          <p:nvPr/>
        </p:nvSpPr>
        <p:spPr>
          <a:xfrm>
            <a:off x="226809" y="1512798"/>
            <a:ext cx="5841498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IN" sz="1400" b="1" dirty="0"/>
              <a:t>Hardware &amp; Edge Devices:</a:t>
            </a:r>
            <a:endParaRPr lang="en-IN" sz="1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Controllers:</a:t>
            </a:r>
            <a:r>
              <a:rPr lang="en-IN" sz="1400" dirty="0"/>
              <a:t> ESP32 / Arduino (Master Hub &amp; Multi-hop Slave Nodes)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Sensors:</a:t>
            </a:r>
            <a:r>
              <a:rPr lang="en-IN" sz="1400" dirty="0"/>
              <a:t> MPU6050 (6-Axis Inclinometer/Tilt), SW-420 (Micro-seismic Vibration)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Outputs:</a:t>
            </a:r>
            <a:r>
              <a:rPr lang="en-IN" sz="1400" dirty="0"/>
              <a:t> 0.96" I2C OLED Display, 4-Tier Status LEDs (🟢🟡🟠🔴), Piezo Buzzers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Power:</a:t>
            </a:r>
            <a:r>
              <a:rPr lang="en-IN" sz="1400" dirty="0"/>
              <a:t> 3.7V 18650 Li-ion battery with 5V Solar Harvesting &amp; Deep-Sleep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IN" sz="1400" dirty="0"/>
          </a:p>
          <a:p>
            <a:pPr lvl="0" algn="just"/>
            <a:r>
              <a:rPr lang="en-IN" sz="1400" b="1" dirty="0"/>
              <a:t>Languages &amp; Firmware:</a:t>
            </a:r>
            <a:endParaRPr lang="en-IN" sz="1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Embedded Core:</a:t>
            </a:r>
            <a:r>
              <a:rPr lang="en-IN" sz="1400" dirty="0"/>
              <a:t> C++ / Embedded C (Arduino framework / ESP-IDF)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Web Dashboard:</a:t>
            </a:r>
            <a:r>
              <a:rPr lang="en-IN" sz="1400" dirty="0"/>
              <a:t> HTML5, CSS3, Vanilla JavaScript (Chart.js embedded in ESP32 Flash)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IN" sz="1400" dirty="0"/>
          </a:p>
          <a:p>
            <a:pPr lvl="0" algn="just"/>
            <a:r>
              <a:rPr lang="en-IN" sz="1400" b="1" dirty="0"/>
              <a:t>AI / ML &amp; Communication Protocols:</a:t>
            </a:r>
            <a:endParaRPr lang="en-IN" sz="14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b="1" dirty="0" err="1"/>
              <a:t>TinyML</a:t>
            </a:r>
            <a:r>
              <a:rPr lang="en-IN" sz="1400" b="1" dirty="0"/>
              <a:t> Framework:</a:t>
            </a:r>
            <a:r>
              <a:rPr lang="en-IN" sz="1400" dirty="0"/>
              <a:t> Edge Impulse Studio &amp; TensorFlow Lite for Microcontrollers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Protocols:</a:t>
            </a:r>
            <a:r>
              <a:rPr lang="en-IN" sz="1400" dirty="0"/>
              <a:t> ESP-NOW / LoRa Wireless Mesh, Wi-Fi </a:t>
            </a:r>
            <a:r>
              <a:rPr lang="en-IN" sz="1400" dirty="0" err="1"/>
              <a:t>SoftAP</a:t>
            </a:r>
            <a:r>
              <a:rPr lang="en-IN" sz="1400" dirty="0"/>
              <a:t> (HTTP </a:t>
            </a:r>
            <a:r>
              <a:rPr lang="en-IN" sz="1400" dirty="0" err="1"/>
              <a:t>WebServer</a:t>
            </a:r>
            <a:r>
              <a:rPr lang="en-IN" sz="1400" dirty="0"/>
              <a:t>), I2C</a:t>
            </a:r>
          </a:p>
          <a:p>
            <a:pPr algn="just"/>
            <a:endParaRPr lang="en-IN" sz="1400" dirty="0"/>
          </a:p>
          <a:p>
            <a:pPr algn="just"/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D8E05-CBF8-1A95-9C77-2229C270D928}"/>
              </a:ext>
            </a:extLst>
          </p:cNvPr>
          <p:cNvSpPr txBox="1"/>
          <p:nvPr/>
        </p:nvSpPr>
        <p:spPr>
          <a:xfrm>
            <a:off x="2353364" y="1107409"/>
            <a:ext cx="2701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Technologies &amp; Tools Used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5B36CF-6EDF-F4FB-24D9-C691F5833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147" y="2015045"/>
            <a:ext cx="5841498" cy="29207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5C62418-3AF2-65BF-6CC3-97BED7725189}"/>
              </a:ext>
            </a:extLst>
          </p:cNvPr>
          <p:cNvSpPr txBox="1"/>
          <p:nvPr/>
        </p:nvSpPr>
        <p:spPr>
          <a:xfrm>
            <a:off x="7692297" y="1063837"/>
            <a:ext cx="306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Implementation Methodology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39605" y="1552735"/>
            <a:ext cx="4547027" cy="430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Technical Feasibility:</a:t>
            </a:r>
            <a:r>
              <a:rPr lang="en-IN" sz="1600" dirty="0"/>
              <a:t> Uses proven COTS (commercial off-the-shelf) microcontrollers (ESP32) and sensors. The Edge Impulse </a:t>
            </a:r>
            <a:r>
              <a:rPr lang="en-IN" sz="1600" dirty="0" err="1"/>
              <a:t>TinyML</a:t>
            </a:r>
            <a:r>
              <a:rPr lang="en-IN" sz="1600" dirty="0"/>
              <a:t> model has a tiny footprint (&lt;100KB RAM), running efficiently with zero cloud lag.</a:t>
            </a:r>
          </a:p>
          <a:p>
            <a:pPr lvl="0" algn="just"/>
            <a:endParaRPr lang="en-IN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Economic Feasibility:</a:t>
            </a:r>
            <a:r>
              <a:rPr lang="en-IN" sz="1600" dirty="0"/>
              <a:t> Ultra-low BoM (Bill of Materials) cost of </a:t>
            </a:r>
            <a:r>
              <a:rPr lang="en-IN" sz="1600" b="1" dirty="0"/>
              <a:t>&lt; ₹600 per slave node</a:t>
            </a:r>
            <a:r>
              <a:rPr lang="en-IN" sz="1600" dirty="0"/>
              <a:t>, compared to commercial geotechnical systems costing over ₹50,000+. Enables scalable, high-density grid deployment.</a:t>
            </a:r>
          </a:p>
          <a:p>
            <a:pPr lvl="0" algn="just"/>
            <a:endParaRPr lang="en-IN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b="1" dirty="0"/>
              <a:t>Operational Feasibility:</a:t>
            </a:r>
            <a:r>
              <a:rPr lang="en-IN" sz="1600" dirty="0"/>
              <a:t> Plug-and-play surface deployment requiring zero civil excavation or trenching; operates 100% autonomously without cellular/internet coverage.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F87E24B7-230F-F7D4-67DD-13932D84DB0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9605" y="252246"/>
            <a:ext cx="14695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ForgeByte</a:t>
            </a:r>
            <a:endParaRPr lang="en-IN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AAAB2F0C-56CB-B0CC-A5AE-155E601D0A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7296084"/>
                  </p:ext>
                </p:extLst>
              </p:nvPr>
            </p:nvGraphicFramePr>
            <p:xfrm>
              <a:off x="5112774" y="1144500"/>
              <a:ext cx="6917163" cy="494371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05721">
                      <a:extLst>
                        <a:ext uri="{9D8B030D-6E8A-4147-A177-3AD203B41FA5}">
                          <a16:colId xmlns:a16="http://schemas.microsoft.com/office/drawing/2014/main" val="2860664286"/>
                        </a:ext>
                      </a:extLst>
                    </a:gridCol>
                    <a:gridCol w="2305721">
                      <a:extLst>
                        <a:ext uri="{9D8B030D-6E8A-4147-A177-3AD203B41FA5}">
                          <a16:colId xmlns:a16="http://schemas.microsoft.com/office/drawing/2014/main" val="1013833407"/>
                        </a:ext>
                      </a:extLst>
                    </a:gridCol>
                    <a:gridCol w="2305721">
                      <a:extLst>
                        <a:ext uri="{9D8B030D-6E8A-4147-A177-3AD203B41FA5}">
                          <a16:colId xmlns:a16="http://schemas.microsoft.com/office/drawing/2014/main" val="962404475"/>
                        </a:ext>
                      </a:extLst>
                    </a:gridCol>
                  </a:tblGrid>
                  <a:tr h="18923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Challenge / Risk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Impact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Mitigation Strategy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9712055"/>
                      </a:ext>
                    </a:extLst>
                  </a:tr>
                  <a:tr h="98561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Harsh Environmental Conditions</a:t>
                          </a:r>
                          <a:endParaRPr lang="en-IN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Coal dust, heavy rainfall, and direct heat causing hardware degradation and battery drain.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IP65-Rated Weatherproof Enclosure</a:t>
                          </a: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 with deep-sleep power management (&lt;15µA), 18650 Li-ion cells, and mini solar harvesting.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5827914"/>
                      </a:ext>
                    </a:extLst>
                  </a:tr>
                  <a:tr h="11696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False Alarms from Mining Traffic</a:t>
                          </a:r>
                          <a:endParaRPr lang="en-IN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Heavy dumpers, earthmovers, and surface blasting causing vibration noise.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 err="1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TinyML</a:t>
                          </a: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 Spectral FFT Filtering &amp; Sensor Fusion:</a:t>
                          </a: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 Correlates vibration frequency with sustained angular tilt (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en-IN" sz="1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  <m:r>
                                <a:rPr lang="en-IN" sz="1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IN" sz="12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</m:oMath>
                          </a14:m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t) to reject transient vehicle noise.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5108798"/>
                      </a:ext>
                    </a:extLst>
                  </a:tr>
                  <a:tr h="13646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Mesh Packet Loss / Strata Damage</a:t>
                          </a:r>
                          <a:endParaRPr lang="en-IN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Shifting terrain or obstacles physically destroying a slave node or blocking RF signals.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Self-Healing Multi-Hop Mesh &amp; Heartbeat:</a:t>
                          </a: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 Automated dynamic rerouting to alternate neighbour nodes; Master OLED immediately alerts </a:t>
                          </a:r>
                          <a:r>
                            <a:rPr lang="en-IN" sz="1200" i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"Node X Offline"</a:t>
                          </a: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4146839"/>
                      </a:ext>
                    </a:extLst>
                  </a:tr>
                  <a:tr h="11683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Sensor Thermal Drift</a:t>
                          </a:r>
                          <a:endParaRPr lang="en-IN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Outdoor day/night temperature swings causing accelerometer bias.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Software Moving-Average Baseline Calibration:</a:t>
                          </a: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 Dynamic auto-zeroing algorithm compensates for baseline thermal drift.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421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AAAB2F0C-56CB-B0CC-A5AE-155E601D0A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7296084"/>
                  </p:ext>
                </p:extLst>
              </p:nvPr>
            </p:nvGraphicFramePr>
            <p:xfrm>
              <a:off x="5112774" y="1144500"/>
              <a:ext cx="6917163" cy="494371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05721">
                      <a:extLst>
                        <a:ext uri="{9D8B030D-6E8A-4147-A177-3AD203B41FA5}">
                          <a16:colId xmlns:a16="http://schemas.microsoft.com/office/drawing/2014/main" val="2860664286"/>
                        </a:ext>
                      </a:extLst>
                    </a:gridCol>
                    <a:gridCol w="2305721">
                      <a:extLst>
                        <a:ext uri="{9D8B030D-6E8A-4147-A177-3AD203B41FA5}">
                          <a16:colId xmlns:a16="http://schemas.microsoft.com/office/drawing/2014/main" val="1013833407"/>
                        </a:ext>
                      </a:extLst>
                    </a:gridCol>
                    <a:gridCol w="2305721">
                      <a:extLst>
                        <a:ext uri="{9D8B030D-6E8A-4147-A177-3AD203B41FA5}">
                          <a16:colId xmlns:a16="http://schemas.microsoft.com/office/drawing/2014/main" val="962404475"/>
                        </a:ext>
                      </a:extLst>
                    </a:gridCol>
                  </a:tblGrid>
                  <a:tr h="19989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Challenge / Risk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Impact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Mitigation Strategy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29712055"/>
                      </a:ext>
                    </a:extLst>
                  </a:tr>
                  <a:tr h="104114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Harsh Environmental Conditions</a:t>
                          </a:r>
                          <a:endParaRPr lang="en-IN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Coal dust, heavy rainfall, and direct heat causing hardware degradation and battery drain.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IP65-Rated Weatherproof Enclosure</a:t>
                          </a: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 with deep-sleep power management (&lt;15µA), 18650 Li-ion cells, and mini solar harvesting.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85827914"/>
                      </a:ext>
                    </a:extLst>
                  </a:tr>
                  <a:tr h="116965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False Alarms from Mining Traffic</a:t>
                          </a:r>
                          <a:endParaRPr lang="en-IN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Heavy dumpers, earthmovers, and surface blasting causing vibration noise.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8333" r="-528" b="-2192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5108798"/>
                      </a:ext>
                    </a:extLst>
                  </a:tr>
                  <a:tr h="13646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Mesh Packet Loss / Strata Damage</a:t>
                          </a:r>
                          <a:endParaRPr lang="en-IN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Shifting terrain or obstacles physically destroying a slave node or blocking RF signals.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Self-Healing Multi-Hop Mesh &amp; Heartbeat:</a:t>
                          </a: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 Automated dynamic rerouting to alternate neighbour nodes; Master OLED immediately alerts </a:t>
                          </a:r>
                          <a:r>
                            <a:rPr lang="en-IN" sz="1200" i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"Node X Offline"</a:t>
                          </a: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074146839"/>
                      </a:ext>
                    </a:extLst>
                  </a:tr>
                  <a:tr h="116833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Sensor Thermal Drift</a:t>
                          </a:r>
                          <a:endParaRPr lang="en-IN" sz="1200" kern="100" dirty="0">
                            <a:effectLst/>
                            <a:latin typeface="Aptos" panose="020B00040202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Outdoor day/night temperature swings causing accelerometer bias.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200" b="1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Software Moving-Average Baseline Calibration:</a:t>
                          </a:r>
                          <a:r>
                            <a:rPr lang="en-IN" sz="1200" kern="100" dirty="0">
                              <a:effectLst/>
                              <a:latin typeface="Aptos" panose="020B0004020202020204" pitchFamily="34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a:t> Dynamic auto-zeroing algorithm compensates for baseline thermal drift.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4216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7B3DD45-FD95-4324-A26E-4CCC745774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95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ForgeByte</a:t>
            </a:r>
            <a:endParaRPr lang="en-IN" sz="16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CAADF1-9EA6-5C5E-58E5-1C10861439E2}"/>
              </a:ext>
            </a:extLst>
          </p:cNvPr>
          <p:cNvSpPr/>
          <p:nvPr/>
        </p:nvSpPr>
        <p:spPr>
          <a:xfrm>
            <a:off x="6508954" y="1526450"/>
            <a:ext cx="5211097" cy="4730251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/>
            <a:r>
              <a:rPr lang="en-IN" sz="1700" b="1" dirty="0"/>
              <a:t>Mine Workers &amp; Field Crews:</a:t>
            </a:r>
            <a:r>
              <a:rPr lang="en-IN" sz="1700" dirty="0"/>
              <a:t> Instant on-site life safety via targeted slave sirens (e.g., Node 13 buzzer) providing crucial evacuation lead time before ground collapse.</a:t>
            </a:r>
          </a:p>
          <a:p>
            <a:pPr lvl="0" algn="just"/>
            <a:r>
              <a:rPr lang="en-IN" sz="1700" b="1" dirty="0"/>
              <a:t>Local Communities &amp; Villagers:</a:t>
            </a:r>
            <a:r>
              <a:rPr lang="en-IN" sz="1700" dirty="0"/>
              <a:t> Safeguards nearby residential homes, rural schools, and agricultural land from unannounced sinkhole disasters.</a:t>
            </a:r>
          </a:p>
          <a:p>
            <a:pPr lvl="0" algn="just"/>
            <a:r>
              <a:rPr lang="en-IN" sz="1700" b="1" dirty="0"/>
              <a:t>Mine Operators (Coal India Ltd / CIL):</a:t>
            </a:r>
            <a:r>
              <a:rPr lang="en-IN" sz="1700" dirty="0"/>
              <a:t> Provides 24/7 real-time situational awareness via offline local dashboards, preventing abrupt mine shutdowns and equipment losses.</a:t>
            </a:r>
          </a:p>
          <a:p>
            <a:pPr lvl="0" algn="just"/>
            <a:r>
              <a:rPr lang="en-IN" sz="1700" b="1" dirty="0"/>
              <a:t>Regulatory Authorities (DGMS &amp; Ministry of Coal):</a:t>
            </a:r>
            <a:r>
              <a:rPr lang="en-IN" sz="1700" dirty="0"/>
              <a:t> Delivers continuous, automated geotechnical risk tracking to ensure strict safety compliance.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CA3CC9-5656-0B79-D523-C878E38E31F6}"/>
              </a:ext>
            </a:extLst>
          </p:cNvPr>
          <p:cNvSpPr txBox="1"/>
          <p:nvPr/>
        </p:nvSpPr>
        <p:spPr>
          <a:xfrm>
            <a:off x="403123" y="1601592"/>
            <a:ext cx="5766227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b="1" dirty="0"/>
              <a:t>Social Benefits:</a:t>
            </a:r>
            <a:endParaRPr lang="en-IN" sz="1400" dirty="0"/>
          </a:p>
          <a:p>
            <a:pPr lvl="1"/>
            <a:r>
              <a:rPr lang="en-IN" sz="1400" b="1" dirty="0"/>
              <a:t>Zero Casualties:</a:t>
            </a:r>
            <a:r>
              <a:rPr lang="en-IN" sz="1400" dirty="0"/>
              <a:t> Drastically reduces injury and loss of life for mining personnel and surface inhabitants.</a:t>
            </a:r>
          </a:p>
          <a:p>
            <a:pPr lvl="1"/>
            <a:r>
              <a:rPr lang="en-IN" sz="1400" b="1" dirty="0"/>
              <a:t>Public Trust:</a:t>
            </a:r>
            <a:r>
              <a:rPr lang="en-IN" sz="1400" dirty="0"/>
              <a:t> Builds safety confidence for communities living in subsidence-prone coal belts (e.g., </a:t>
            </a:r>
            <a:r>
              <a:rPr lang="en-IN" sz="1400" dirty="0" err="1"/>
              <a:t>Raniganj</a:t>
            </a:r>
            <a:r>
              <a:rPr lang="en-IN" sz="1400" dirty="0"/>
              <a:t>, Jharia, </a:t>
            </a:r>
            <a:r>
              <a:rPr lang="en-IN" sz="1400" dirty="0" err="1"/>
              <a:t>Singrauli</a:t>
            </a:r>
            <a:r>
              <a:rPr lang="en-IN" sz="1400" dirty="0"/>
              <a:t>).</a:t>
            </a:r>
          </a:p>
          <a:p>
            <a:pPr lvl="0"/>
            <a:r>
              <a:rPr lang="en-IN" sz="1400" b="1" dirty="0"/>
              <a:t>Economic Benefits:</a:t>
            </a:r>
            <a:endParaRPr lang="en-IN" sz="1400" dirty="0"/>
          </a:p>
          <a:p>
            <a:pPr lvl="1"/>
            <a:r>
              <a:rPr lang="en-IN" sz="1400" b="1" dirty="0"/>
              <a:t>Massive Cost Savings:</a:t>
            </a:r>
            <a:r>
              <a:rPr lang="en-IN" sz="1400" dirty="0"/>
              <a:t> Prevents millions in post-disaster compensation, infrastructure repair (roads, rail lines, pipelines), and legal liabilities.</a:t>
            </a:r>
          </a:p>
          <a:p>
            <a:pPr lvl="1"/>
            <a:r>
              <a:rPr lang="en-IN" sz="1400" b="1" dirty="0"/>
              <a:t>Low </a:t>
            </a:r>
            <a:r>
              <a:rPr lang="en-IN" sz="1400" b="1" dirty="0" err="1"/>
              <a:t>CapEx</a:t>
            </a:r>
            <a:r>
              <a:rPr lang="en-IN" sz="1400" b="1" dirty="0"/>
              <a:t> &amp; Scalable:</a:t>
            </a:r>
            <a:r>
              <a:rPr lang="en-IN" sz="1400" dirty="0"/>
              <a:t> Indigenous hardware (&lt; ₹600) makes full-field sensor coverage affordable compared to expensive imported systems (₹50k+).</a:t>
            </a:r>
          </a:p>
          <a:p>
            <a:pPr lvl="0"/>
            <a:r>
              <a:rPr lang="en-IN" sz="1400" b="1" dirty="0"/>
              <a:t>Environmental Benefits:</a:t>
            </a:r>
            <a:endParaRPr lang="en-IN" sz="1400" dirty="0"/>
          </a:p>
          <a:p>
            <a:pPr lvl="1"/>
            <a:r>
              <a:rPr lang="en-IN" sz="1400" b="1" dirty="0"/>
              <a:t>Groundwater &amp; Soil Protection:</a:t>
            </a:r>
            <a:r>
              <a:rPr lang="en-IN" sz="1400" dirty="0"/>
              <a:t> Early crack detection prevents groundwater table drainage and aquifer breach.</a:t>
            </a:r>
          </a:p>
          <a:p>
            <a:pPr lvl="1"/>
            <a:r>
              <a:rPr lang="en-IN" sz="1400" b="1" dirty="0"/>
              <a:t>Fire Prevention:</a:t>
            </a:r>
            <a:r>
              <a:rPr lang="en-IN" sz="1400" dirty="0"/>
              <a:t> Reduces surface air ingress through fissures that trigger hazardous spontaneous coal-seam fires.</a:t>
            </a:r>
          </a:p>
          <a:p>
            <a:pPr lvl="0"/>
            <a:r>
              <a:rPr lang="en-IN" sz="1400" b="1" dirty="0"/>
              <a:t>🇮🇳 Strategic / "Make in India":</a:t>
            </a:r>
            <a:endParaRPr lang="en-IN" sz="1400" dirty="0"/>
          </a:p>
          <a:p>
            <a:pPr lvl="1"/>
            <a:r>
              <a:rPr lang="en-IN" sz="1400" dirty="0"/>
              <a:t>Fully indigenous, low-power AI-IoT solution promoting smart, sustainable, and safe Indian coal mining.</a:t>
            </a:r>
          </a:p>
          <a:p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9F8CD4-294E-04EB-381B-1454B8C66F48}"/>
              </a:ext>
            </a:extLst>
          </p:cNvPr>
          <p:cNvSpPr txBox="1"/>
          <p:nvPr/>
        </p:nvSpPr>
        <p:spPr>
          <a:xfrm>
            <a:off x="7108722" y="1037318"/>
            <a:ext cx="42351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Impact on Target Audience &amp; Stakeholders</a:t>
            </a:r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A14F4-9E4C-E017-19F3-8221F453E4F6}"/>
              </a:ext>
            </a:extLst>
          </p:cNvPr>
          <p:cNvSpPr txBox="1"/>
          <p:nvPr/>
        </p:nvSpPr>
        <p:spPr>
          <a:xfrm>
            <a:off x="1792995" y="986498"/>
            <a:ext cx="2855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 Multi-Dimensional Benefits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73393" y="1696425"/>
            <a:ext cx="10412361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[1] Wang et al., "Design of Wireless Sensor Networks for Real-Time Mining Safety Telemetry," IEEE Trans. Ind. Informatics.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[2]Chen et al., "Mining-Induced Ground Subsidence Prediction Using Machine Learning," Int. J. Min. Sci. Technol. (Elsevier).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[3] Das et al., "Low-Cost MEMS Sensor-Based Surface Tilt Monitoring for Geohazard Warning," IEEE Sensors Journal.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[4] Sharma et al., "Resilient Multi-Hop Wireless Mesh Networks for Mining Field Telemetry," IEEE IoT Journal.</a:t>
            </a:r>
          </a:p>
          <a:p>
            <a:pPr algn="just"/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[5] Tseng et al., "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TinyML</a:t>
            </a:r>
            <a:r>
              <a:rPr lang="en-US" dirty="0">
                <a:latin typeface="Arial" pitchFamily="34" charset="0"/>
                <a:cs typeface="Arial" pitchFamily="34" charset="0"/>
              </a:rPr>
              <a:t> and Edge-AI for Ultra-Low-Power Real-Time Geohazard Early Warning," IEEE Embedded Systems Letters.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1EAEFE51-AB3D-9470-95EB-E350B6FEF3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95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ForgeByte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7565</TotalTime>
  <Words>1123</Words>
  <Application>Microsoft Office PowerPoint</Application>
  <PresentationFormat>Widescreen</PresentationFormat>
  <Paragraphs>104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Cambria Math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GIRISUDHAN V - [CB.EN.U4ECE24016]</cp:lastModifiedBy>
  <cp:revision>153</cp:revision>
  <dcterms:created xsi:type="dcterms:W3CDTF">2013-12-12T18:46:50Z</dcterms:created>
  <dcterms:modified xsi:type="dcterms:W3CDTF">2026-08-30T19:08:50Z</dcterms:modified>
  <cp:category/>
</cp:coreProperties>
</file>